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SVM</c:v>
                </c:pt>
                <c:pt idx="4">
                  <c:v>KNN</c:v>
                </c:pt>
                <c:pt idx="5">
                  <c:v>Neural Network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75.0</c:v>
                </c:pt>
                <c:pt idx="1">
                  <c:v>65.59</c:v>
                </c:pt>
                <c:pt idx="2">
                  <c:v>73.03</c:v>
                </c:pt>
                <c:pt idx="3">
                  <c:v>73.86</c:v>
                </c:pt>
                <c:pt idx="4">
                  <c:v>66.67</c:v>
                </c:pt>
                <c:pt idx="5">
                  <c:v>73.5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F1-score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2011680"/>
            <a:ext cx="914400" cy="914400"/>
          </a:xfrm>
          <a:prstGeom prst="ellipse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108960"/>
            <a:ext cx="1188720" cy="1188720"/>
          </a:xfrm>
          <a:prstGeom prst="ellipse">
            <a:avLst/>
          </a:prstGeom>
          <a:solidFill>
            <a:srgbClr val="2A4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772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89DCDC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955279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CareerCompass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71323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FEAF6"/>
                </a:solidFill>
                <a:latin typeface="Aptos"/>
              </a:rPr>
              <a:t>Student Success &amp; Placement Intelligence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77639"/>
            <a:ext cx="694944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Team Lead: Utkalika Priyadarshinee Champati
Team Members: Viswitha • Bhimavarapu Venkata Naga Divyasri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080760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9DCDC"/>
                </a:solidFill>
                <a:latin typeface="Aptos"/>
              </a:rPr>
              <a:t>Machine Learning • Career Matching • Skill-Gap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Why do students need a placement guidance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82880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37944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2743"/>
                </a:solidFill>
                <a:latin typeface="Aptos"/>
              </a:rPr>
              <a:t>Career choices can be confusing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58568"/>
            <a:ext cx="3154680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Students may not know which career best matches their current skills.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82880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2743"/>
                </a:solidFill>
                <a:latin typeface="Aptos"/>
              </a:rPr>
              <a:t>Skill gaps are hard to 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3154680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A student may need a clear view of which skills to improve.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82880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37944"/>
            <a:ext cx="317296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12743"/>
                </a:solidFill>
                <a:latin typeface="Aptos"/>
              </a:rPr>
              <a:t>Preparation needs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3154680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General advice may not give students a personal improvement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6984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12743"/>
                </a:solidFill>
                <a:latin typeface="Aptos"/>
              </a:rPr>
              <a:t>Our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25303F"/>
                </a:solidFill>
                <a:latin typeface="Aptos"/>
              </a:rPr>
              <a:t>Bring student information together and turn it into a simple placement assessment, career suggestions, and practical next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2.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What CareerCompass AI aims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55448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49103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12743"/>
                </a:solidFill>
                <a:latin typeface="Aptos"/>
              </a:rP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4892040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Estimate the placement outcome from student profile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73152" cy="155448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37944"/>
            <a:ext cx="49103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12743"/>
                </a:solidFill>
                <a:latin typeface="Aptos"/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58568"/>
            <a:ext cx="4892040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Calculate a placement-readiness score from 0 to 100.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155448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03904"/>
            <a:ext cx="49103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12743"/>
                </a:solidFill>
                <a:latin typeface="Aptos"/>
              </a:rPr>
              <a:t>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24528"/>
            <a:ext cx="4892040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Show the top 3 career profiles that match the student.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73152" cy="1554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803904"/>
            <a:ext cx="49103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12743"/>
                </a:solidFill>
                <a:latin typeface="Aptos"/>
              </a:rPr>
              <a:t>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24528"/>
            <a:ext cx="4892040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Highlight skill gaps and suggest a personal roadmap.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The goal is to support student decisions—not to replace human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3. 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 simple 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65960"/>
            <a:ext cx="594360" cy="59436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Student
Profile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2139696"/>
            <a:ext cx="594360" cy="228600"/>
          </a:xfrm>
          <a:prstGeom prst="rightArrow">
            <a:avLst/>
          </a:prstGeom>
          <a:solidFill>
            <a:srgbClr val="AA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7480" y="1965960"/>
            <a:ext cx="594360" cy="594360"/>
          </a:xfrm>
          <a:prstGeom prst="ellipse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Data
Processing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11880" y="2139696"/>
            <a:ext cx="594360" cy="228600"/>
          </a:xfrm>
          <a:prstGeom prst="rightArrow">
            <a:avLst/>
          </a:prstGeom>
          <a:solidFill>
            <a:srgbClr val="AA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965960"/>
            <a:ext cx="594360" cy="594360"/>
          </a:xfrm>
          <a:prstGeom prst="ellipse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ML
Prediction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77840" y="2139696"/>
            <a:ext cx="594360" cy="228600"/>
          </a:xfrm>
          <a:prstGeom prst="rightArrow">
            <a:avLst/>
          </a:prstGeom>
          <a:solidFill>
            <a:srgbClr val="AA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1965960"/>
            <a:ext cx="594360" cy="594360"/>
          </a:xfrm>
          <a:prstGeom prst="ellipse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Career
Matching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43800" y="2139696"/>
            <a:ext cx="594360" cy="228600"/>
          </a:xfrm>
          <a:prstGeom prst="rightArrow">
            <a:avLst/>
          </a:prstGeom>
          <a:solidFill>
            <a:srgbClr val="AA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1965960"/>
            <a:ext cx="594360" cy="59436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Skill Gaps +
Roadmap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09760" y="2139696"/>
            <a:ext cx="594360" cy="228600"/>
          </a:xfrm>
          <a:prstGeom prst="rightArrow">
            <a:avLst/>
          </a:prstGeom>
          <a:solidFill>
            <a:srgbClr val="AAB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19" y="1965960"/>
            <a:ext cx="594360" cy="594360"/>
          </a:xfrm>
          <a:prstGeom prst="ellipse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19" y="2084831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743200"/>
            <a:ext cx="12801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12743"/>
                </a:solidFill>
                <a:latin typeface="Aptos"/>
              </a:rPr>
              <a:t>Download
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1480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114800"/>
            <a:ext cx="73152" cy="12344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261104"/>
            <a:ext cx="44531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681728"/>
            <a:ext cx="443484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Academic results, skills, projects, internships and other profile details.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11480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4114800"/>
            <a:ext cx="73152" cy="123444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4261104"/>
            <a:ext cx="44531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681728"/>
            <a:ext cx="443484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Placement estimate, readiness score, career matches and improvement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4. Student Data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prototype looks at 14 profile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2344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47274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Academics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709159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CGPA • Attendance • Aptitude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23444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7274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709159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Technical • Communication • Coding • Soft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73152" cy="123444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438144"/>
            <a:ext cx="47274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858768"/>
            <a:ext cx="4709159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Projects • Internships • Certifications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73152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38144"/>
            <a:ext cx="47274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58768"/>
            <a:ext cx="4709159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Resume score • Interview score • Extracurricular activities • 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57800"/>
            <a:ext cx="10287000" cy="685800"/>
          </a:xfrm>
          <a:prstGeom prst="roundRect">
            <a:avLst/>
          </a:prstGeom>
          <a:solidFill>
            <a:srgbClr val="FFF7E5"/>
          </a:solidFill>
          <a:ln>
            <a:solidFill>
              <a:srgbClr val="F1C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413248"/>
            <a:ext cx="9875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84570F"/>
                </a:solidFill>
                <a:latin typeface="Aptos"/>
              </a:rPr>
              <a:t>Important: the supplied dataset contains 1,200 synthetic/demo student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5.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Six algorithms are evaluated and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23444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Simple baseline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123444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8379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585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Rule-based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916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91640"/>
            <a:ext cx="73152" cy="123444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8379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2585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Combines many decision trees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918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91840"/>
            <a:ext cx="73152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381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SVM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8587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Finds a boundary between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2918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291840"/>
            <a:ext cx="73152" cy="123444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4381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KNN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8587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Uses similar examples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29184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291840"/>
            <a:ext cx="73152" cy="1234440"/>
          </a:xfrm>
          <a:prstGeom prst="rect">
            <a:avLst/>
          </a:prstGeom>
          <a:solidFill>
            <a:srgbClr val="C3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43814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Neural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3858768"/>
            <a:ext cx="3108960" cy="5760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Learns complex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104241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The prototype selects the model with the highest F1-score on its demo test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6. Main Application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app is organized into simple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41732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Overview of students, models and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00200"/>
            <a:ext cx="73152" cy="141732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465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Student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1671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Enter a profile and generate an assessment.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002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00200"/>
            <a:ext cx="73152" cy="141732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7465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Career Explorer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671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Compare career matches and skill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753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Model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View model performance metrics.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4290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429000"/>
            <a:ext cx="73152" cy="141732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5753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Batch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9959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Upload multiple student records for testing.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42900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429000"/>
            <a:ext cx="73152" cy="1417320"/>
          </a:xfrm>
          <a:prstGeom prst="rect">
            <a:avLst/>
          </a:prstGeom>
          <a:solidFill>
            <a:srgbClr val="C3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575304"/>
            <a:ext cx="312724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PDF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3995928"/>
            <a:ext cx="310896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Download a summary of the assessment.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7. Model 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F1-score balances precision and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645920"/>
          <a:ext cx="73152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2880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73152" cy="132588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975104"/>
            <a:ext cx="280720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Top 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395728"/>
            <a:ext cx="27889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Logistic Regression
75.00%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2900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429000"/>
            <a:ext cx="73152" cy="132588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3575304"/>
            <a:ext cx="280720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12743"/>
                </a:solidFill>
                <a:latin typeface="Aptos"/>
              </a:rPr>
              <a:t>Top 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995928"/>
            <a:ext cx="27889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5303F"/>
                </a:solidFill>
                <a:latin typeface="Aptos"/>
              </a:rPr>
              <a:t>Logistic Regression
85.12%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074920"/>
            <a:ext cx="30175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34A4A"/>
                </a:solidFill>
                <a:latin typeface="Aptos"/>
              </a:rPr>
              <a:t>Results are from the demo dataset only—not validated real-world placement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12743"/>
                </a:solidFill>
                <a:latin typeface="Aptos"/>
              </a:rPr>
              <a:t>8. What a Student Receives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An assessment plus a practical next-step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508760"/>
          </a:xfrm>
          <a:prstGeom prst="rect">
            <a:avLst/>
          </a:prstGeom>
          <a:solidFill>
            <a:srgbClr val="2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30815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Placement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6324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A predicted class and model probability.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1508760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83664"/>
            <a:ext cx="30815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Readiness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04288"/>
            <a:ext cx="306324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A score from 0–100 with a readiness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1508760"/>
          </a:xfrm>
          <a:prstGeom prst="rect">
            <a:avLst/>
          </a:prstGeom>
          <a:solidFill>
            <a:srgbClr val="F09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83664"/>
            <a:ext cx="308152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Top 3 careers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06324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Career profiles ranked by match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65760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657600"/>
            <a:ext cx="73152" cy="15087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9968" y="3803904"/>
            <a:ext cx="349300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Skill-gap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4224528"/>
            <a:ext cx="347472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Shows skills that are below the selected career's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5760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657600"/>
            <a:ext cx="73152" cy="150876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7" y="3803904"/>
            <a:ext cx="3493008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12743"/>
                </a:solidFill>
                <a:latin typeface="Aptos"/>
              </a:rPr>
              <a:t>Improvement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7" y="4224528"/>
            <a:ext cx="3474720" cy="8503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25303F"/>
                </a:solidFill>
                <a:latin typeface="Aptos"/>
              </a:rPr>
              <a:t>Suggests actions to improve preparation.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9.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115568"/>
            <a:ext cx="960120" cy="54864"/>
          </a:xfrm>
          <a:prstGeom prst="rect">
            <a:avLst/>
          </a:prstGeom>
          <a:solidFill>
            <a:srgbClr val="14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89DCDC"/>
                </a:solidFill>
                <a:latin typeface="Aptos"/>
              </a:rPr>
              <a:t>CareerCompass AI connects prediction with career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6949440" cy="2286000"/>
          </a:xfrm>
          <a:prstGeom prst="rect">
            <a:avLst/>
          </a:prstGeom>
          <a:noFill/>
        </p:spPr>
        <p:txBody>
          <a:bodyPr wrap="square" lIns="73152" rIns="36576" tIns="27432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Combines placement prediction, career matching and skill-gap analysis.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Provides a clear dashboard and downloadable student report.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Can be improved with real college placement data and ongoing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57400"/>
            <a:ext cx="3246120" cy="2057400"/>
          </a:xfrm>
          <a:prstGeom prst="roundRect">
            <a:avLst/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2331720"/>
            <a:ext cx="2788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84570F"/>
                </a:solidFill>
                <a:latin typeface="Aptos"/>
              </a:rPr>
              <a:t>Prototype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816352"/>
            <a:ext cx="274320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5303F"/>
                </a:solidFill>
                <a:latin typeface="Aptos"/>
              </a:rPr>
              <a:t>The current data is synthetic. Predictions should not be used for real placement decisions until validated on genuine institutional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9784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9875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89DCDC"/>
                </a:solidFill>
                <a:latin typeface="Aptos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BECCD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